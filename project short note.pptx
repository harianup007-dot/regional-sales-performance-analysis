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5478E-7BC7-4515-8C91-AABA52E46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28AA59-9C77-4ABA-A225-80B17702B6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01EB5-2BE3-434D-B3E7-4521D049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EBCCF-EA2B-43BB-80B7-2C360F162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6D018-6FA7-4103-BD99-59FE15A2E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560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6403-FEF2-410B-BB15-AD97396FC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0B34C-C814-4385-A3F3-14E2C97AD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7EB76-2A4E-4F68-AC6C-8E94ACD9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8D108-0D71-43BD-AF8E-F346407FC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7371F-68CA-47A4-AFAF-4B1FDE08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304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A9EB0-031A-497E-92F9-0D4843048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1C9C3-2704-42CB-BD53-CC40D3B17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FEDC-EE86-4783-BC41-1D677059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491BA-33C7-4040-960B-9B0FE92B4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C8609-F5BF-4544-A1A9-04E0124A4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694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913BB-E005-4FD9-9057-8098BEC5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31EF8-9716-4B7B-A71F-E431E788DF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F5ACE-B3D0-43B6-9F29-B2C6CFA52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F8E33-887B-4E9E-AC28-B563C9ED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25A61-BB99-4794-BBBD-676229D82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471A1-0CEE-4CED-AB88-CF9546F2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61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BBD58-AE44-4D55-B3B8-3C45F8C2A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D2EE5-2CE5-437E-BA02-052E2B656E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C48AD8-E294-4B87-B771-773ECB0DB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DBCB40-569A-4E28-B30B-04C285757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5F120-D130-48EF-8207-252A033D8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CABEA-985A-4506-A216-74B86250F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7A5354-7F1C-4437-917E-105ECB1E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89C759-9C7A-4BAD-B000-0FE107F08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154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17FB-1B54-406B-8945-642BA3EB8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E025E3-3F01-43B9-877D-292DB4F9E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A7AB1-9B76-48F5-B89F-B9FB847B0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49C1CB-B17F-46A5-A621-7F4FC9458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967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6B45E4-896B-4DEF-B365-EAEF1E76F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1A749-7568-47E0-BEB1-DD80A203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CD949-435D-4974-8455-324B081B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416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FAFAB-39FE-4BE7-8068-81E14B01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0624F-A027-41F3-8AA1-2E466FC4E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D2E22-BE4E-4E30-8AC8-D674F59A4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617334-A16B-4321-9F6D-C5A6FA9C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6D044-12D4-4787-AFEA-940D5BD6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863B1-3A2E-4EED-A89D-27A15AB4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942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A39EE-53A8-4982-88C1-D8A93A8B3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E91C6-080E-49A0-B1AE-0095F091E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B4172-1C8F-4003-BCB7-4BEF212B5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B173C-99C3-479F-809A-05554049F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9C89-2722-4845-A8F5-BB5300A6C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E35AFE-FDAE-4B53-BD36-7DAD8164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74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D0B4E-02BA-45B4-9CEC-C31B7D25C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49F24-6BAA-49AD-BFC6-92DEB1EDC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9EC8F-AEA2-4E99-B703-F3DE05658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5D8C1-B307-4157-B0DD-2590ABE69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DAA1D-F219-4C47-8B23-F58D96B0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5354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2EFE3-D49C-41D8-BF20-65B426A8C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3E93D8-BBA9-43D3-B603-CC0C3FE2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EF5C8-EA5D-4DCC-BE99-699F2E64D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21FB1-E092-484A-B82A-D1F891B2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43452-350F-4340-A9B4-420F5E53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463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340F4-1EED-4EF0-9668-6F1896F3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8979F-E0C5-4EB1-B090-EE9FC53CD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037F-E8C2-4CB9-8616-34B7EB9D91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A76FF-3424-4F09-BD29-92469744506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45C3F-7355-43A6-AE76-C4EE0A356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5878D-23A3-4C64-83D0-F1F14B092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F0B2D-B102-4EC9-9CB9-D08F1A5D24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32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6DD2-007C-4293-841D-995F24622C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3D967-A883-42EE-AD29-0531531058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Sales Data Analysis for B2B: Data Types ...">
            <a:extLst>
              <a:ext uri="{FF2B5EF4-FFF2-40B4-BE49-F238E27FC236}">
                <a16:creationId xmlns:a16="http://schemas.microsoft.com/office/drawing/2014/main" id="{20D325C8-F767-480B-B3AF-AE21C7F6C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1713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DEA4E-5524-4BBB-9AAF-E3C9A7FA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6075"/>
            <a:ext cx="10515600" cy="1325563"/>
          </a:xfrm>
        </p:spPr>
        <p:txBody>
          <a:bodyPr/>
          <a:lstStyle/>
          <a:p>
            <a:r>
              <a:rPr lang="en-US" dirty="0">
                <a:latin typeface="Bahnschrift Condensed" panose="020B0502040204020203" pitchFamily="34" charset="0"/>
              </a:rPr>
              <a:t>1.Introduction: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18ACE-5A42-4168-A46B-34B1A57F6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data set was obtained from a public platform called Kaggle and contains multiple datasets such as Sales Orders, Customers , Products ,Regions , State regions and 2017 budget.</a:t>
            </a:r>
          </a:p>
          <a:p>
            <a:r>
              <a:rPr lang="en-US" sz="2000" dirty="0"/>
              <a:t>The goal of this project is to raw sales datasets into meaningful insights that can help the management make better decisions and improve profit and overall performance.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2.Problem statement:</a:t>
            </a:r>
          </a:p>
          <a:p>
            <a:pPr marL="0" indent="0">
              <a:buNone/>
            </a:pPr>
            <a:r>
              <a:rPr lang="en-US" sz="2000" dirty="0"/>
              <a:t> The business is facing several challenges:</a:t>
            </a:r>
          </a:p>
          <a:p>
            <a:pPr marL="0" indent="0">
              <a:buNone/>
            </a:pPr>
            <a:r>
              <a:rPr lang="en-US" sz="2000" dirty="0"/>
              <a:t>-&gt; Revenue and profit are inconsistent across different regions.</a:t>
            </a:r>
          </a:p>
          <a:p>
            <a:pPr marL="0" indent="0">
              <a:buNone/>
            </a:pPr>
            <a:r>
              <a:rPr lang="en-US" sz="2000" dirty="0"/>
              <a:t>-&gt;The company lacks visibility into seasonal swings .</a:t>
            </a:r>
          </a:p>
          <a:p>
            <a:pPr marL="0" indent="0">
              <a:buNone/>
            </a:pPr>
            <a:r>
              <a:rPr lang="en-US" sz="2000" dirty="0"/>
              <a:t>Main aim is to </a:t>
            </a:r>
            <a:r>
              <a:rPr lang="en-US" sz="2000" dirty="0" err="1"/>
              <a:t>analyse</a:t>
            </a:r>
            <a:r>
              <a:rPr lang="en-US" sz="2000" dirty="0"/>
              <a:t> the data of the previous 5 years of the company and pinpoint growth areas and optimize strategies.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68568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2830-D3E5-4E87-B01C-4C27DC66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3.Tools used:</a:t>
            </a:r>
            <a:br>
              <a:rPr lang="en-US" sz="2800" dirty="0">
                <a:latin typeface="Bahnschrift Condensed" panose="020B0502040204020203" pitchFamily="34" charset="0"/>
              </a:rPr>
            </a:br>
            <a:r>
              <a:rPr lang="en-US" sz="2000" dirty="0">
                <a:latin typeface="Bahnschrift Condensed" panose="020B0502040204020203" pitchFamily="34" charset="0"/>
              </a:rPr>
              <a:t>Python , Power Bi, MS Excel , Statistics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8213B-6B47-476A-AE40-7E76CE4CD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Python was mainly used for data cleaning, feature engineering , exploratory data analysis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r>
              <a:rPr lang="en-US" sz="2000" dirty="0"/>
              <a:t>Power Bi was used to visually represent the data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4.Data understanding:</a:t>
            </a:r>
          </a:p>
          <a:p>
            <a:pPr marL="0" indent="0">
              <a:buNone/>
            </a:pPr>
            <a:r>
              <a:rPr lang="en-US" sz="2000" dirty="0"/>
              <a:t>Before performing analysis ,its important to understand the datasets and relationships between them..</a:t>
            </a:r>
          </a:p>
          <a:p>
            <a:pPr marL="0" indent="0">
              <a:buNone/>
            </a:pPr>
            <a:r>
              <a:rPr lang="en-US" sz="2000" dirty="0"/>
              <a:t>The dataset used are: Sales orders -&gt; </a:t>
            </a:r>
            <a:r>
              <a:rPr lang="en-US" sz="2000" dirty="0" err="1"/>
              <a:t>ordernumber</a:t>
            </a:r>
            <a:r>
              <a:rPr lang="en-US" sz="2000" dirty="0"/>
              <a:t>, customer index ,product index , region id 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r>
              <a:rPr lang="en-US" sz="2000" dirty="0"/>
              <a:t>                                        Customers-&gt; Customer index , Customer Name 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r>
              <a:rPr lang="en-US" sz="2000" dirty="0"/>
              <a:t>                                        Products -&gt; Product index , Product Name etc..</a:t>
            </a:r>
          </a:p>
          <a:p>
            <a:pPr marL="0" indent="0">
              <a:buNone/>
            </a:pPr>
            <a:r>
              <a:rPr lang="en-US" sz="2000" dirty="0"/>
              <a:t>                                        Regions</a:t>
            </a:r>
          </a:p>
          <a:p>
            <a:pPr marL="0" indent="0">
              <a:buNone/>
            </a:pPr>
            <a:r>
              <a:rPr lang="en-US" sz="2000" dirty="0"/>
              <a:t>                                        State Regions </a:t>
            </a:r>
          </a:p>
          <a:p>
            <a:pPr marL="0" indent="0">
              <a:buNone/>
            </a:pPr>
            <a:r>
              <a:rPr lang="en-US" sz="2000" dirty="0"/>
              <a:t>                                        2017 budget…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1545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DF8B-0C0C-4FA6-B2C2-198C1969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5.Entity Relationship Diagram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64D1F-45EE-4984-A25A-8E6D20C9E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8275"/>
            <a:ext cx="10515600" cy="4738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u="sng" dirty="0"/>
              <a:t>Primary keys</a:t>
            </a:r>
            <a:r>
              <a:rPr lang="en-GB" sz="2400" dirty="0"/>
              <a:t>:</a:t>
            </a:r>
          </a:p>
          <a:p>
            <a:r>
              <a:rPr lang="en-GB" sz="2000" dirty="0"/>
              <a:t> uniquely identify records.</a:t>
            </a:r>
          </a:p>
          <a:p>
            <a:pPr marL="0" indent="0">
              <a:buNone/>
            </a:pPr>
            <a:r>
              <a:rPr lang="en-GB" sz="2000" dirty="0"/>
              <a:t>Examples:- Order Number → Sales Orders</a:t>
            </a:r>
          </a:p>
          <a:p>
            <a:r>
              <a:rPr lang="en-GB" sz="2000" dirty="0"/>
              <a:t>- Customer Index → Customers</a:t>
            </a:r>
          </a:p>
          <a:p>
            <a:r>
              <a:rPr lang="en-GB" sz="2000" dirty="0"/>
              <a:t>- Product Index → Products</a:t>
            </a:r>
          </a:p>
          <a:p>
            <a:r>
              <a:rPr lang="en-GB" sz="2000" dirty="0"/>
              <a:t>- Region ID → Regions</a:t>
            </a:r>
          </a:p>
          <a:p>
            <a:r>
              <a:rPr lang="en-GB" sz="2000" dirty="0"/>
              <a:t>- State Code → State Regions</a:t>
            </a:r>
          </a:p>
          <a:p>
            <a:pPr marL="0" indent="0">
              <a:buNone/>
            </a:pPr>
            <a:r>
              <a:rPr lang="en-GB" sz="2000" u="sng" dirty="0"/>
              <a:t>Foreign keys</a:t>
            </a:r>
            <a:r>
              <a:rPr lang="en-GB" sz="2000" dirty="0"/>
              <a:t>: establish relationships between tables.</a:t>
            </a:r>
          </a:p>
          <a:p>
            <a:pPr marL="0" indent="0">
              <a:buNone/>
            </a:pPr>
            <a:r>
              <a:rPr lang="en-GB" sz="2000" dirty="0"/>
              <a:t>Examples:- Customer Index in Sales Orders links to Customers.</a:t>
            </a:r>
          </a:p>
          <a:p>
            <a:r>
              <a:rPr lang="en-GB" sz="2000" dirty="0"/>
              <a:t>- Product Index in Sales Orders links to Products.</a:t>
            </a:r>
          </a:p>
          <a:p>
            <a:r>
              <a:rPr lang="en-GB" sz="2000" dirty="0"/>
              <a:t>- Region ID in Sales Orders links to Regions.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4690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21469-CAE5-4DE7-B89C-C7CC63600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6.Data cleaning and Why it was used?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D013B-BB66-4956-A723-3BE12FBA0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So when raw data is given it cannot be analyzed directly because it may contain many duplicate data attributes or datasets and may contain unnecessary information.</a:t>
            </a:r>
          </a:p>
          <a:p>
            <a:r>
              <a:rPr lang="en-US" sz="2000" dirty="0"/>
              <a:t>To remove duplicates we have used some python code to identify and remove it..</a:t>
            </a:r>
          </a:p>
          <a:p>
            <a:r>
              <a:rPr lang="en-US" sz="2000" dirty="0"/>
              <a:t>Why? -&gt; Because if same order or data appears twice  the revenue may become incorrect which may lead to error in profit calculations…etc..</a:t>
            </a:r>
          </a:p>
          <a:p>
            <a:r>
              <a:rPr lang="en-US" sz="2000" dirty="0"/>
              <a:t> Removing unnecessary </a:t>
            </a:r>
            <a:r>
              <a:rPr lang="en-US" sz="2000" dirty="0" err="1"/>
              <a:t>coloumns</a:t>
            </a:r>
            <a:endParaRPr lang="en-US" sz="2000" dirty="0"/>
          </a:p>
          <a:p>
            <a:r>
              <a:rPr lang="en-US" sz="2000" dirty="0"/>
              <a:t>Renaming </a:t>
            </a:r>
            <a:r>
              <a:rPr lang="en-US" sz="2000" dirty="0" err="1"/>
              <a:t>coloumns</a:t>
            </a:r>
            <a:r>
              <a:rPr lang="en-US" sz="2000" dirty="0"/>
              <a:t> </a:t>
            </a:r>
          </a:p>
          <a:p>
            <a:r>
              <a:rPr lang="en-US" sz="2000" dirty="0"/>
              <a:t>Merging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67550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0BE4F-5FA0-4973-9A95-A51B24E01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7. Feature Engineering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7B015-7E87-4DE6-9E57-C6AB2428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basically means creating new columns from existing data …</a:t>
            </a:r>
          </a:p>
          <a:p>
            <a:r>
              <a:rPr lang="en-US" sz="2000" dirty="0"/>
              <a:t>For example: two columns </a:t>
            </a:r>
            <a:r>
              <a:rPr lang="en-US" sz="2000" dirty="0" err="1"/>
              <a:t>a,b</a:t>
            </a:r>
            <a:r>
              <a:rPr lang="en-US" sz="2000" dirty="0"/>
              <a:t> we create a new one called “c” based on a and b</a:t>
            </a:r>
          </a:p>
          <a:p>
            <a:r>
              <a:rPr lang="en-US" sz="2000" dirty="0"/>
              <a:t>In this we create a new one revenue</a:t>
            </a:r>
          </a:p>
          <a:p>
            <a:r>
              <a:rPr lang="en-US" sz="2000" dirty="0"/>
              <a:t>Revenue = order quantity * unit price </a:t>
            </a:r>
          </a:p>
          <a:p>
            <a:r>
              <a:rPr lang="en-US" sz="2000" dirty="0"/>
              <a:t>Total cost = Order quantity * unit cost </a:t>
            </a:r>
          </a:p>
          <a:p>
            <a:r>
              <a:rPr lang="en-US" sz="2000" dirty="0"/>
              <a:t>Profit = Revenue – Total cost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1618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C4D5-A95D-4CF0-99B5-F547C4D1F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8. Exploratory Data Analysis(EDA)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2DE28-3911-4EFC-9765-3A7202906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It is the process of analyzing data to discover patterns ,trends 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000" dirty="0"/>
              <a:t>To help the business or company to understand that Which regions generate the highest revenue, Which products contribute most , Which customers generate the most </a:t>
            </a:r>
            <a:r>
              <a:rPr lang="en-US" sz="2000" dirty="0" err="1"/>
              <a:t>etc</a:t>
            </a:r>
            <a:endParaRPr lang="en-US" sz="2000" dirty="0"/>
          </a:p>
          <a:p>
            <a:r>
              <a:rPr lang="en-US" sz="2000" dirty="0"/>
              <a:t>Converts raw data into meaningful insights…</a:t>
            </a:r>
          </a:p>
          <a:p>
            <a:r>
              <a:rPr lang="en-US" sz="2000" dirty="0"/>
              <a:t>It includes line charts , Bar chart , Pie chart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94351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5C6F3-CA8D-4078-9019-EFE53F9F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9.Key insights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30A46-D63F-40BA-9EDD-2566EE315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Sales showed some seasonal patterns</a:t>
            </a:r>
          </a:p>
          <a:p>
            <a:r>
              <a:rPr lang="en-US" sz="2000" dirty="0"/>
              <a:t>Some months experienced higher sales while other showed lower</a:t>
            </a:r>
          </a:p>
          <a:p>
            <a:r>
              <a:rPr lang="en-US" sz="2000" dirty="0"/>
              <a:t>May showed the highest followed by august , march</a:t>
            </a:r>
          </a:p>
          <a:p>
            <a:r>
              <a:rPr lang="en-US" sz="2000" dirty="0"/>
              <a:t>April ,June , July and Feb showed the lowest</a:t>
            </a:r>
          </a:p>
          <a:p>
            <a:pPr marL="0" indent="0">
              <a:buNone/>
            </a:pPr>
            <a:r>
              <a:rPr lang="en-US" sz="2000" dirty="0"/>
              <a:t>Sales By channel:</a:t>
            </a:r>
          </a:p>
          <a:p>
            <a:pPr marL="0" indent="0">
              <a:buNone/>
            </a:pPr>
            <a:r>
              <a:rPr lang="en-US" sz="2000" dirty="0"/>
              <a:t>Wholesale:54.1%</a:t>
            </a:r>
          </a:p>
          <a:p>
            <a:pPr marL="0" indent="0">
              <a:buNone/>
            </a:pPr>
            <a:r>
              <a:rPr lang="en-US" sz="2000" dirty="0"/>
              <a:t>Distributor:31.3%</a:t>
            </a:r>
          </a:p>
          <a:p>
            <a:pPr marL="0" indent="0">
              <a:buNone/>
            </a:pPr>
            <a:r>
              <a:rPr lang="en-US" sz="2000" dirty="0"/>
              <a:t>Export:14.6%</a:t>
            </a:r>
          </a:p>
          <a:p>
            <a:pPr marL="0" indent="0">
              <a:buNone/>
            </a:pPr>
            <a:r>
              <a:rPr lang="en-US" sz="2000" dirty="0"/>
              <a:t>Product Analysis:</a:t>
            </a:r>
          </a:p>
          <a:p>
            <a:pPr marL="0" indent="0">
              <a:buNone/>
            </a:pPr>
            <a:r>
              <a:rPr lang="en-US" sz="2000" dirty="0"/>
              <a:t>Product 26  and 27 showed strong sale performance.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72790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EC87C-6B01-4912-8C1D-1A5C7A2F0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Bahnschrift Condensed" panose="020B0502040204020203" pitchFamily="34" charset="0"/>
              </a:rPr>
              <a:t>10. Dashboard Development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6DD95-C08E-433E-9A56-8736DE560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After the analysis an interactive dashboard was created </a:t>
            </a:r>
          </a:p>
          <a:p>
            <a:r>
              <a:rPr lang="en-US" sz="2000" dirty="0"/>
              <a:t>Who uses this ? : clients </a:t>
            </a:r>
          </a:p>
          <a:p>
            <a:r>
              <a:rPr lang="en-US" sz="2000" dirty="0"/>
              <a:t>Why ? : To understand the growth and decline of sales , to analyze growth opportunities .</a:t>
            </a:r>
          </a:p>
          <a:p>
            <a:r>
              <a:rPr lang="en-US" sz="2000" dirty="0"/>
              <a:t>It helps managers quickly understand business performance and make data-driven decision.</a:t>
            </a:r>
          </a:p>
          <a:p>
            <a:pPr marL="0" indent="0">
              <a:buNone/>
            </a:pPr>
            <a:r>
              <a:rPr lang="en-US" dirty="0">
                <a:latin typeface="Bahnschrift Condensed" panose="020B0502040204020203" pitchFamily="34" charset="0"/>
              </a:rPr>
              <a:t>11. Conclusion </a:t>
            </a:r>
            <a:r>
              <a:rPr lang="en-IN" dirty="0">
                <a:latin typeface="Bahnschrift Condensed" panose="020B0502040204020203" pitchFamily="34" charset="0"/>
              </a:rPr>
              <a:t> </a:t>
            </a:r>
          </a:p>
          <a:p>
            <a:pPr marL="0" indent="0">
              <a:buNone/>
            </a:pPr>
            <a:r>
              <a:rPr lang="en-US" sz="2000" dirty="0"/>
              <a:t>Through data cleaning , feature engineering and all the other steps meaningful insights were generated regarding revenue , profit , products , customers , regions and seasonal trends.</a:t>
            </a:r>
          </a:p>
        </p:txBody>
      </p:sp>
    </p:spTree>
    <p:extLst>
      <p:ext uri="{BB962C8B-B14F-4D97-AF65-F5344CB8AC3E}">
        <p14:creationId xmlns:p14="http://schemas.microsoft.com/office/powerpoint/2010/main" val="1077511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672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Bahnschrift Condensed</vt:lpstr>
      <vt:lpstr>Calibri</vt:lpstr>
      <vt:lpstr>Calibri Light</vt:lpstr>
      <vt:lpstr>Office Theme</vt:lpstr>
      <vt:lpstr>PowerPoint Presentation</vt:lpstr>
      <vt:lpstr>1.Introduction:</vt:lpstr>
      <vt:lpstr>3.Tools used: Python , Power Bi, MS Excel , Statistics</vt:lpstr>
      <vt:lpstr>5.Entity Relationship Diagram</vt:lpstr>
      <vt:lpstr>6.Data cleaning and Why it was used?</vt:lpstr>
      <vt:lpstr>7. Feature Engineering</vt:lpstr>
      <vt:lpstr>8. Exploratory Data Analysis(EDA)</vt:lpstr>
      <vt:lpstr>9.Key insights</vt:lpstr>
      <vt:lpstr>10. Dashboard Development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laksh</dc:creator>
  <cp:lastModifiedBy>laksh</cp:lastModifiedBy>
  <cp:revision>8</cp:revision>
  <dcterms:created xsi:type="dcterms:W3CDTF">2026-05-31T15:49:36Z</dcterms:created>
  <dcterms:modified xsi:type="dcterms:W3CDTF">2026-05-31T17:18:14Z</dcterms:modified>
</cp:coreProperties>
</file>